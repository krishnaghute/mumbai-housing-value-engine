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109/ISAS66241.2025.11101915" TargetMode="External"/><Relationship Id="rId2" Type="http://schemas.openxmlformats.org/officeDocument/2006/relationships/hyperlink" Target="https://doi.org/10.1007/s00168-025-01365-7" TargetMode="External"/><Relationship Id="rId1" Type="http://schemas.openxmlformats.org/officeDocument/2006/relationships/slideLayout" Target="../slideLayouts/slideLayout2.xml"/><Relationship Id="rId6" Type="http://schemas.openxmlformats.org/officeDocument/2006/relationships/hyperlink" Target="https://scikit-learn.org/stable/modules/model_evaluation.html" TargetMode="External"/><Relationship Id="rId5" Type="http://schemas.openxmlformats.org/officeDocument/2006/relationships/hyperlink" Target="https://github.com/hindav/Mumbai-Housing-Prices" TargetMode="External"/><Relationship Id="rId4" Type="http://schemas.openxmlformats.org/officeDocument/2006/relationships/hyperlink" Target="https://doi.org/10.1016/j.cities.2026.1072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C82B-E75C-A325-4541-310F6AD37A4A}"/>
              </a:ext>
            </a:extLst>
          </p:cNvPr>
          <p:cNvSpPr>
            <a:spLocks noGrp="1"/>
          </p:cNvSpPr>
          <p:nvPr>
            <p:ph type="ctrTitle"/>
          </p:nvPr>
        </p:nvSpPr>
        <p:spPr>
          <a:xfrm>
            <a:off x="1154954" y="1455175"/>
            <a:ext cx="9729355" cy="1671483"/>
          </a:xfrm>
        </p:spPr>
        <p:txBody>
          <a:bodyPr/>
          <a:lstStyle/>
          <a:p>
            <a:pPr algn="ctr"/>
            <a:br>
              <a:rPr lang="en-IN" sz="2400" b="1" dirty="0"/>
            </a:br>
            <a:r>
              <a:rPr lang="en-IN" sz="2400" b="1" dirty="0"/>
              <a:t>MACHINE LEARNING FOR URBAN HOUSING PRICE PREDICTION</a:t>
            </a:r>
            <a:br>
              <a:rPr lang="en-IN" sz="2400" dirty="0"/>
            </a:br>
            <a:r>
              <a:rPr lang="en-IN" sz="2400" i="1" dirty="0"/>
              <a:t>A Smart-City Decision Support Approach Using Random Forest</a:t>
            </a:r>
            <a:br>
              <a:rPr lang="en-IN" sz="2400" dirty="0"/>
            </a:br>
            <a:r>
              <a:rPr lang="en-IN" sz="2400" b="1" dirty="0"/>
              <a:t>Project:</a:t>
            </a:r>
            <a:r>
              <a:rPr lang="en-IN" sz="2400" dirty="0"/>
              <a:t> Mumbai Housing Value Engine</a:t>
            </a:r>
            <a:br>
              <a:rPr lang="en-IN" sz="2400" dirty="0"/>
            </a:br>
            <a:r>
              <a:rPr lang="en-IN" sz="2400" dirty="0"/>
              <a:t>MGM University • IICT</a:t>
            </a:r>
            <a:br>
              <a:rPr lang="en-IN" sz="2400" dirty="0"/>
            </a:br>
            <a:endParaRPr lang="en-IN" sz="2400" dirty="0"/>
          </a:p>
        </p:txBody>
      </p:sp>
      <p:sp>
        <p:nvSpPr>
          <p:cNvPr id="3" name="Subtitle 2">
            <a:extLst>
              <a:ext uri="{FF2B5EF4-FFF2-40B4-BE49-F238E27FC236}">
                <a16:creationId xmlns:a16="http://schemas.microsoft.com/office/drawing/2014/main" id="{D8E1134A-0961-3B7E-18CC-BF41A96C0E95}"/>
              </a:ext>
            </a:extLst>
          </p:cNvPr>
          <p:cNvSpPr>
            <a:spLocks noGrp="1"/>
          </p:cNvSpPr>
          <p:nvPr>
            <p:ph type="subTitle" idx="1"/>
          </p:nvPr>
        </p:nvSpPr>
        <p:spPr>
          <a:xfrm>
            <a:off x="1154955" y="3549445"/>
            <a:ext cx="6455213" cy="2089354"/>
          </a:xfrm>
        </p:spPr>
        <p:txBody>
          <a:bodyPr>
            <a:normAutofit/>
          </a:bodyPr>
          <a:lstStyle/>
          <a:p>
            <a:r>
              <a:rPr lang="en-IN" dirty="0">
                <a:solidFill>
                  <a:schemeClr val="bg1"/>
                </a:solidFill>
              </a:rPr>
              <a:t>Ty ds (div 04)</a:t>
            </a:r>
            <a:endParaRPr lang="en-IN" b="1" dirty="0">
              <a:solidFill>
                <a:schemeClr val="bg1"/>
              </a:solidFill>
            </a:endParaRPr>
          </a:p>
          <a:p>
            <a:r>
              <a:rPr lang="en-IN" b="1" dirty="0">
                <a:solidFill>
                  <a:schemeClr val="bg1"/>
                </a:solidFill>
              </a:rPr>
              <a:t>Presented by:</a:t>
            </a:r>
            <a:endParaRPr lang="en-IN" dirty="0">
              <a:solidFill>
                <a:schemeClr val="bg1"/>
              </a:solidFill>
            </a:endParaRPr>
          </a:p>
          <a:p>
            <a:r>
              <a:rPr lang="en-IN" dirty="0">
                <a:solidFill>
                  <a:schemeClr val="bg1"/>
                </a:solidFill>
              </a:rPr>
              <a:t>Krishna Ghute • 2407023</a:t>
            </a:r>
            <a:br>
              <a:rPr lang="en-IN" dirty="0">
                <a:solidFill>
                  <a:schemeClr val="bg1"/>
                </a:solidFill>
              </a:rPr>
            </a:br>
            <a:r>
              <a:rPr lang="en-IN" dirty="0">
                <a:solidFill>
                  <a:schemeClr val="bg1"/>
                </a:solidFill>
              </a:rPr>
              <a:t>Quadri Rushan Alam • 2207002</a:t>
            </a:r>
          </a:p>
          <a:p>
            <a:r>
              <a:rPr lang="en-IN" b="1" dirty="0">
                <a:solidFill>
                  <a:schemeClr val="bg1"/>
                </a:solidFill>
              </a:rPr>
              <a:t>Guided by:</a:t>
            </a:r>
            <a:r>
              <a:rPr lang="en-IN" dirty="0">
                <a:solidFill>
                  <a:schemeClr val="bg1"/>
                </a:solidFill>
              </a:rPr>
              <a:t> Priyanka </a:t>
            </a:r>
            <a:r>
              <a:rPr lang="en-IN" dirty="0" err="1">
                <a:solidFill>
                  <a:schemeClr val="bg1"/>
                </a:solidFill>
              </a:rPr>
              <a:t>Hajare</a:t>
            </a:r>
            <a:r>
              <a:rPr lang="en-IN" dirty="0">
                <a:solidFill>
                  <a:schemeClr val="bg1"/>
                </a:solidFill>
              </a:rPr>
              <a:t> Ma’am</a:t>
            </a:r>
          </a:p>
        </p:txBody>
      </p:sp>
      <p:pic>
        <p:nvPicPr>
          <p:cNvPr id="8" name="Picture 7" descr="House Price Prediction with Machine Learning | by Varun Tyagi | Medium">
            <a:extLst>
              <a:ext uri="{FF2B5EF4-FFF2-40B4-BE49-F238E27FC236}">
                <a16:creationId xmlns:a16="http://schemas.microsoft.com/office/drawing/2014/main" id="{5A2F11AA-B9A3-D8A9-DDBC-9A7FA0085A2F}"/>
              </a:ext>
            </a:extLst>
          </p:cNvPr>
          <p:cNvPicPr>
            <a:picLocks noChangeAspect="1"/>
          </p:cNvPicPr>
          <p:nvPr/>
        </p:nvPicPr>
        <p:blipFill>
          <a:blip r:embed="rId2"/>
          <a:stretch>
            <a:fillRect/>
          </a:stretch>
        </p:blipFill>
        <p:spPr>
          <a:xfrm>
            <a:off x="6626943" y="2920181"/>
            <a:ext cx="4139380" cy="2930013"/>
          </a:xfrm>
          <a:prstGeom prst="rect">
            <a:avLst/>
          </a:prstGeom>
        </p:spPr>
      </p:pic>
    </p:spTree>
    <p:extLst>
      <p:ext uri="{BB962C8B-B14F-4D97-AF65-F5344CB8AC3E}">
        <p14:creationId xmlns:p14="http://schemas.microsoft.com/office/powerpoint/2010/main" val="1301913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829EB-61AF-CF78-806E-326CB39347ED}"/>
              </a:ext>
            </a:extLst>
          </p:cNvPr>
          <p:cNvSpPr>
            <a:spLocks noGrp="1"/>
          </p:cNvSpPr>
          <p:nvPr>
            <p:ph type="title"/>
          </p:nvPr>
        </p:nvSpPr>
        <p:spPr/>
        <p:txBody>
          <a:bodyPr/>
          <a:lstStyle/>
          <a:p>
            <a:br>
              <a:rPr lang="en-IN" b="1" dirty="0"/>
            </a:br>
            <a:r>
              <a:rPr lang="en-IN" b="1" dirty="0"/>
              <a:t>Project Overview</a:t>
            </a:r>
            <a:br>
              <a:rPr lang="en-IN" b="1" dirty="0"/>
            </a:br>
            <a:endParaRPr lang="en-IN" dirty="0"/>
          </a:p>
        </p:txBody>
      </p:sp>
      <p:sp>
        <p:nvSpPr>
          <p:cNvPr id="3" name="Content Placeholder 2">
            <a:extLst>
              <a:ext uri="{FF2B5EF4-FFF2-40B4-BE49-F238E27FC236}">
                <a16:creationId xmlns:a16="http://schemas.microsoft.com/office/drawing/2014/main" id="{AA8B4E77-A229-908B-9389-C3A14D5E352C}"/>
              </a:ext>
            </a:extLst>
          </p:cNvPr>
          <p:cNvSpPr>
            <a:spLocks noGrp="1"/>
          </p:cNvSpPr>
          <p:nvPr>
            <p:ph idx="1"/>
          </p:nvPr>
        </p:nvSpPr>
        <p:spPr>
          <a:xfrm>
            <a:off x="530943" y="2603500"/>
            <a:ext cx="4935794" cy="3787468"/>
          </a:xfrm>
        </p:spPr>
        <p:txBody>
          <a:bodyPr>
            <a:normAutofit fontScale="92500" lnSpcReduction="20000"/>
          </a:bodyPr>
          <a:lstStyle/>
          <a:p>
            <a:pPr lvl="0"/>
            <a:r>
              <a:rPr lang="en-IN" dirty="0"/>
              <a:t>This project develops a machine-learning prototype for housing value prediction.</a:t>
            </a:r>
          </a:p>
          <a:p>
            <a:pPr lvl="0"/>
            <a:r>
              <a:rPr lang="en-IN" dirty="0"/>
              <a:t>A Random Forest regression model learns patterns from housing data.</a:t>
            </a:r>
          </a:p>
          <a:p>
            <a:pPr lvl="0"/>
            <a:r>
              <a:rPr lang="en-IN" dirty="0"/>
              <a:t>Income and geographic coordinates are used as model inputs.</a:t>
            </a:r>
          </a:p>
          <a:p>
            <a:pPr lvl="0"/>
            <a:r>
              <a:rPr lang="en-IN" dirty="0"/>
              <a:t>A Flask web application connects the trained model to an interactive Leaflet map.</a:t>
            </a:r>
          </a:p>
          <a:p>
            <a:pPr lvl="0"/>
            <a:r>
              <a:rPr lang="en-IN" dirty="0"/>
              <a:t>Users can explore locations and obtain predictions through the interface.</a:t>
            </a:r>
          </a:p>
          <a:p>
            <a:r>
              <a:rPr lang="en-IN" b="1" dirty="0"/>
              <a:t>Project outcome:</a:t>
            </a:r>
            <a:r>
              <a:rPr lang="en-IN" dirty="0"/>
              <a:t> A working prototype combining machine learning, web deployment and geographic interaction.</a:t>
            </a:r>
          </a:p>
          <a:p>
            <a:endParaRPr lang="en-IN" dirty="0"/>
          </a:p>
        </p:txBody>
      </p:sp>
      <p:pic>
        <p:nvPicPr>
          <p:cNvPr id="5" name="Picture 4">
            <a:extLst>
              <a:ext uri="{FF2B5EF4-FFF2-40B4-BE49-F238E27FC236}">
                <a16:creationId xmlns:a16="http://schemas.microsoft.com/office/drawing/2014/main" id="{7C56CB0E-6C78-3168-CD8A-06884D648C9B}"/>
              </a:ext>
            </a:extLst>
          </p:cNvPr>
          <p:cNvPicPr>
            <a:picLocks noChangeAspect="1"/>
          </p:cNvPicPr>
          <p:nvPr/>
        </p:nvPicPr>
        <p:blipFill>
          <a:blip r:embed="rId2"/>
          <a:stretch>
            <a:fillRect/>
          </a:stretch>
        </p:blipFill>
        <p:spPr>
          <a:xfrm>
            <a:off x="5535660" y="2603499"/>
            <a:ext cx="6499024" cy="3787467"/>
          </a:xfrm>
          <a:prstGeom prst="rect">
            <a:avLst/>
          </a:prstGeom>
        </p:spPr>
      </p:pic>
    </p:spTree>
    <p:extLst>
      <p:ext uri="{BB962C8B-B14F-4D97-AF65-F5344CB8AC3E}">
        <p14:creationId xmlns:p14="http://schemas.microsoft.com/office/powerpoint/2010/main" val="3341675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80B7-2D6F-8FD0-AEC0-E0D9721A86FE}"/>
              </a:ext>
            </a:extLst>
          </p:cNvPr>
          <p:cNvSpPr>
            <a:spLocks noGrp="1"/>
          </p:cNvSpPr>
          <p:nvPr>
            <p:ph type="title"/>
          </p:nvPr>
        </p:nvSpPr>
        <p:spPr/>
        <p:txBody>
          <a:bodyPr/>
          <a:lstStyle/>
          <a:p>
            <a:r>
              <a:rPr lang="en-IN" b="1" dirty="0"/>
              <a:t>Problem Statement</a:t>
            </a:r>
            <a:endParaRPr lang="en-IN" dirty="0"/>
          </a:p>
        </p:txBody>
      </p:sp>
      <p:sp>
        <p:nvSpPr>
          <p:cNvPr id="3" name="Content Placeholder 2">
            <a:extLst>
              <a:ext uri="{FF2B5EF4-FFF2-40B4-BE49-F238E27FC236}">
                <a16:creationId xmlns:a16="http://schemas.microsoft.com/office/drawing/2014/main" id="{8F3B2B37-1403-83D6-53AA-E460B390EA85}"/>
              </a:ext>
            </a:extLst>
          </p:cNvPr>
          <p:cNvSpPr>
            <a:spLocks noGrp="1"/>
          </p:cNvSpPr>
          <p:nvPr>
            <p:ph idx="1"/>
          </p:nvPr>
        </p:nvSpPr>
        <p:spPr/>
        <p:txBody>
          <a:bodyPr/>
          <a:lstStyle/>
          <a:p>
            <a:pPr lvl="0"/>
            <a:r>
              <a:rPr lang="en-IN" dirty="0"/>
              <a:t>Housing values vary with location and socioeconomic conditions.</a:t>
            </a:r>
          </a:p>
          <a:p>
            <a:pPr lvl="0"/>
            <a:r>
              <a:rPr lang="en-IN" dirty="0"/>
              <a:t>Manual estimation can be subjective and difficult to scale.</a:t>
            </a:r>
          </a:p>
          <a:p>
            <a:pPr lvl="0"/>
            <a:r>
              <a:rPr lang="en-IN" dirty="0"/>
              <a:t>Housing datasets contain relationships that may not be captured by simple linear models.</a:t>
            </a:r>
          </a:p>
          <a:p>
            <a:pPr lvl="0"/>
            <a:r>
              <a:rPr lang="en-IN" dirty="0"/>
              <a:t>A practical system is needed to connect predictions with an interactive geographic interface.</a:t>
            </a:r>
          </a:p>
          <a:p>
            <a:r>
              <a:rPr lang="en-IN" b="1" dirty="0"/>
              <a:t>Problem statement:</a:t>
            </a:r>
            <a:r>
              <a:rPr lang="en-IN" dirty="0"/>
              <a:t> To develop a web-based machine-learning prototype that predicts housing values from selected dataset features and enables location-based exploration.</a:t>
            </a:r>
          </a:p>
        </p:txBody>
      </p:sp>
    </p:spTree>
    <p:extLst>
      <p:ext uri="{BB962C8B-B14F-4D97-AF65-F5344CB8AC3E}">
        <p14:creationId xmlns:p14="http://schemas.microsoft.com/office/powerpoint/2010/main" val="49707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EFB7A-D05F-4E48-ECEC-E74E8FCBD6E2}"/>
              </a:ext>
            </a:extLst>
          </p:cNvPr>
          <p:cNvSpPr>
            <a:spLocks noGrp="1"/>
          </p:cNvSpPr>
          <p:nvPr>
            <p:ph type="title"/>
          </p:nvPr>
        </p:nvSpPr>
        <p:spPr>
          <a:xfrm>
            <a:off x="927597" y="2143432"/>
            <a:ext cx="5079913" cy="3662517"/>
          </a:xfrm>
        </p:spPr>
        <p:txBody>
          <a:bodyPr/>
          <a:lstStyle/>
          <a:p>
            <a:r>
              <a:rPr lang="en-IN" sz="1800" b="1" dirty="0"/>
              <a:t>Objectives:</a:t>
            </a:r>
            <a:br>
              <a:rPr lang="en-IN" sz="1800" dirty="0"/>
            </a:br>
            <a:r>
              <a:rPr lang="en-IN" sz="1800" dirty="0"/>
              <a:t>1.Prepare and analyse the housing dataset.</a:t>
            </a:r>
            <a:br>
              <a:rPr lang="en-IN" sz="1800" dirty="0"/>
            </a:br>
            <a:r>
              <a:rPr lang="en-IN" sz="1800" dirty="0"/>
              <a:t>2.Select relevant features for prediction.</a:t>
            </a:r>
            <a:br>
              <a:rPr lang="en-IN" sz="1800" dirty="0"/>
            </a:br>
            <a:r>
              <a:rPr lang="en-IN" sz="1800" dirty="0"/>
              <a:t>3.Train and evaluate regression models.</a:t>
            </a:r>
            <a:br>
              <a:rPr lang="en-IN" sz="1800" dirty="0"/>
            </a:br>
            <a:r>
              <a:rPr lang="en-IN" sz="1800" dirty="0"/>
              <a:t>4.Deploy the selected Random Forest 5.model using Flask.</a:t>
            </a:r>
            <a:br>
              <a:rPr lang="en-IN" sz="1800" dirty="0"/>
            </a:br>
            <a:r>
              <a:rPr lang="en-IN" sz="1800" dirty="0"/>
              <a:t>6.Build an interactive location interface using Leaflet.</a:t>
            </a:r>
            <a:br>
              <a:rPr lang="en-IN" sz="1800" dirty="0"/>
            </a:br>
            <a:endParaRPr lang="en-IN" sz="1700" dirty="0"/>
          </a:p>
        </p:txBody>
      </p:sp>
      <p:sp>
        <p:nvSpPr>
          <p:cNvPr id="3" name="Text Placeholder 2">
            <a:extLst>
              <a:ext uri="{FF2B5EF4-FFF2-40B4-BE49-F238E27FC236}">
                <a16:creationId xmlns:a16="http://schemas.microsoft.com/office/drawing/2014/main" id="{9C2462C6-A7D0-E59F-D295-7E59338FE881}"/>
              </a:ext>
            </a:extLst>
          </p:cNvPr>
          <p:cNvSpPr>
            <a:spLocks noGrp="1"/>
          </p:cNvSpPr>
          <p:nvPr>
            <p:ph type="body" idx="1"/>
          </p:nvPr>
        </p:nvSpPr>
        <p:spPr>
          <a:xfrm>
            <a:off x="6895559" y="2497394"/>
            <a:ext cx="4509860" cy="3185651"/>
          </a:xfrm>
        </p:spPr>
        <p:txBody>
          <a:bodyPr>
            <a:normAutofit/>
          </a:bodyPr>
          <a:lstStyle/>
          <a:p>
            <a:r>
              <a:rPr lang="en-IN" sz="1800" b="1" dirty="0">
                <a:solidFill>
                  <a:schemeClr val="tx1"/>
                </a:solidFill>
              </a:rPr>
              <a:t>Scope:</a:t>
            </a:r>
            <a:endParaRPr lang="en-IN" sz="1800" dirty="0">
              <a:solidFill>
                <a:schemeClr val="tx1"/>
              </a:solidFill>
            </a:endParaRPr>
          </a:p>
          <a:p>
            <a:pPr lvl="0"/>
            <a:r>
              <a:rPr lang="en-IN" sz="1800" dirty="0">
                <a:solidFill>
                  <a:schemeClr val="tx1"/>
                </a:solidFill>
              </a:rPr>
              <a:t>1.Housing-value prediction from dataset features.</a:t>
            </a:r>
          </a:p>
          <a:p>
            <a:pPr lvl="0"/>
            <a:r>
              <a:rPr lang="en-IN" sz="1800" dirty="0">
                <a:solidFill>
                  <a:schemeClr val="tx1"/>
                </a:solidFill>
              </a:rPr>
              <a:t>2.Interactive geographic exploration.</a:t>
            </a:r>
          </a:p>
          <a:p>
            <a:pPr lvl="0"/>
            <a:r>
              <a:rPr lang="en-IN" sz="1800" dirty="0">
                <a:solidFill>
                  <a:schemeClr val="tx1"/>
                </a:solidFill>
              </a:rPr>
              <a:t>3.Model evaluation using regression metrics.</a:t>
            </a:r>
          </a:p>
          <a:p>
            <a:pPr lvl="0"/>
            <a:r>
              <a:rPr lang="en-IN" sz="1800" dirty="0">
                <a:solidFill>
                  <a:schemeClr val="tx1"/>
                </a:solidFill>
              </a:rPr>
              <a:t>4.Prototype-level decision support.</a:t>
            </a:r>
          </a:p>
        </p:txBody>
      </p:sp>
      <p:sp>
        <p:nvSpPr>
          <p:cNvPr id="4" name="TextBox 3">
            <a:extLst>
              <a:ext uri="{FF2B5EF4-FFF2-40B4-BE49-F238E27FC236}">
                <a16:creationId xmlns:a16="http://schemas.microsoft.com/office/drawing/2014/main" id="{18229016-48F9-667A-E656-484486ECA0FB}"/>
              </a:ext>
            </a:extLst>
          </p:cNvPr>
          <p:cNvSpPr txBox="1"/>
          <p:nvPr/>
        </p:nvSpPr>
        <p:spPr>
          <a:xfrm>
            <a:off x="1154954" y="1052051"/>
            <a:ext cx="5168403" cy="646331"/>
          </a:xfrm>
          <a:prstGeom prst="rect">
            <a:avLst/>
          </a:prstGeom>
          <a:noFill/>
        </p:spPr>
        <p:txBody>
          <a:bodyPr wrap="none" rtlCol="0">
            <a:spAutoFit/>
          </a:bodyPr>
          <a:lstStyle/>
          <a:p>
            <a:r>
              <a:rPr lang="en-IN" sz="3600" b="1" dirty="0">
                <a:solidFill>
                  <a:schemeClr val="bg1"/>
                </a:solidFill>
              </a:rPr>
              <a:t>Objectives and Scope</a:t>
            </a:r>
          </a:p>
        </p:txBody>
      </p:sp>
    </p:spTree>
    <p:extLst>
      <p:ext uri="{BB962C8B-B14F-4D97-AF65-F5344CB8AC3E}">
        <p14:creationId xmlns:p14="http://schemas.microsoft.com/office/powerpoint/2010/main" val="1122023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73E8-74DE-2BB5-6CDB-7E1C65AADBFD}"/>
              </a:ext>
            </a:extLst>
          </p:cNvPr>
          <p:cNvSpPr>
            <a:spLocks noGrp="1"/>
          </p:cNvSpPr>
          <p:nvPr>
            <p:ph type="title"/>
          </p:nvPr>
        </p:nvSpPr>
        <p:spPr/>
        <p:txBody>
          <a:bodyPr/>
          <a:lstStyle/>
          <a:p>
            <a:r>
              <a:rPr lang="en-IN" b="1" dirty="0"/>
              <a:t>Dataset Description</a:t>
            </a:r>
            <a:endParaRPr lang="en-IN" dirty="0"/>
          </a:p>
        </p:txBody>
      </p:sp>
      <p:sp>
        <p:nvSpPr>
          <p:cNvPr id="3" name="Content Placeholder 2">
            <a:extLst>
              <a:ext uri="{FF2B5EF4-FFF2-40B4-BE49-F238E27FC236}">
                <a16:creationId xmlns:a16="http://schemas.microsoft.com/office/drawing/2014/main" id="{B93393DD-CDD8-C95A-7168-08EB6AE48E68}"/>
              </a:ext>
            </a:extLst>
          </p:cNvPr>
          <p:cNvSpPr>
            <a:spLocks noGrp="1"/>
          </p:cNvSpPr>
          <p:nvPr>
            <p:ph idx="1"/>
          </p:nvPr>
        </p:nvSpPr>
        <p:spPr>
          <a:xfrm>
            <a:off x="1154955" y="2603500"/>
            <a:ext cx="6838672" cy="2401119"/>
          </a:xfrm>
        </p:spPr>
        <p:txBody>
          <a:bodyPr>
            <a:normAutofit fontScale="85000" lnSpcReduction="10000"/>
          </a:bodyPr>
          <a:lstStyle/>
          <a:p>
            <a:pPr lvl="0"/>
            <a:r>
              <a:rPr lang="en-IN" b="1" dirty="0"/>
              <a:t>Dataset:</a:t>
            </a:r>
            <a:r>
              <a:rPr lang="en-IN" dirty="0"/>
              <a:t> Mumbai Housing Prices</a:t>
            </a:r>
          </a:p>
          <a:p>
            <a:pPr lvl="0"/>
            <a:r>
              <a:rPr lang="en-IN" b="1" dirty="0"/>
              <a:t>Source:</a:t>
            </a:r>
            <a:r>
              <a:rPr lang="en-IN" dirty="0"/>
              <a:t> github.com/</a:t>
            </a:r>
            <a:r>
              <a:rPr lang="en-IN" dirty="0" err="1"/>
              <a:t>hindav</a:t>
            </a:r>
            <a:r>
              <a:rPr lang="en-IN" dirty="0"/>
              <a:t>/Mumbai-Housing-Prices</a:t>
            </a:r>
          </a:p>
          <a:p>
            <a:pPr lvl="0"/>
            <a:r>
              <a:rPr lang="en-IN" b="1" dirty="0"/>
              <a:t>Dataset size:</a:t>
            </a:r>
            <a:r>
              <a:rPr lang="en-IN" dirty="0"/>
              <a:t> Approximately 20,000 records, as described by the repository.</a:t>
            </a:r>
          </a:p>
          <a:p>
            <a:pPr lvl="0"/>
            <a:r>
              <a:rPr lang="en-IN" b="1" dirty="0"/>
              <a:t>Target variable:</a:t>
            </a:r>
            <a:r>
              <a:rPr lang="en-IN" dirty="0"/>
              <a:t> </a:t>
            </a:r>
            <a:r>
              <a:rPr lang="en-IN" dirty="0" err="1"/>
              <a:t>median_house_value</a:t>
            </a:r>
            <a:endParaRPr lang="en-IN" dirty="0"/>
          </a:p>
          <a:p>
            <a:pPr lvl="0"/>
            <a:r>
              <a:rPr lang="en-IN" b="1" dirty="0"/>
              <a:t>Selected model features:</a:t>
            </a:r>
            <a:r>
              <a:rPr lang="en-IN" dirty="0"/>
              <a:t> </a:t>
            </a:r>
            <a:r>
              <a:rPr lang="en-IN" dirty="0" err="1"/>
              <a:t>median_income</a:t>
            </a:r>
            <a:r>
              <a:rPr lang="en-IN" dirty="0"/>
              <a:t>, latitude, longitude</a:t>
            </a:r>
          </a:p>
          <a:p>
            <a:pPr lvl="0"/>
            <a:r>
              <a:rPr lang="en-IN" b="1" dirty="0"/>
              <a:t>Evaluation split:</a:t>
            </a:r>
            <a:r>
              <a:rPr lang="en-IN" dirty="0"/>
              <a:t> 16,000 training records and 4,000 test records.</a:t>
            </a:r>
          </a:p>
        </p:txBody>
      </p:sp>
      <p:pic>
        <p:nvPicPr>
          <p:cNvPr id="6" name="Picture 5">
            <a:extLst>
              <a:ext uri="{FF2B5EF4-FFF2-40B4-BE49-F238E27FC236}">
                <a16:creationId xmlns:a16="http://schemas.microsoft.com/office/drawing/2014/main" id="{D05DFD99-2D39-E041-79C5-E7DB77BC398A}"/>
              </a:ext>
            </a:extLst>
          </p:cNvPr>
          <p:cNvPicPr>
            <a:picLocks noChangeAspect="1"/>
          </p:cNvPicPr>
          <p:nvPr/>
        </p:nvPicPr>
        <p:blipFill>
          <a:blip r:embed="rId2"/>
          <a:stretch>
            <a:fillRect/>
          </a:stretch>
        </p:blipFill>
        <p:spPr>
          <a:xfrm>
            <a:off x="1630293" y="5004619"/>
            <a:ext cx="8931414" cy="1653683"/>
          </a:xfrm>
          <a:prstGeom prst="rect">
            <a:avLst/>
          </a:prstGeom>
        </p:spPr>
      </p:pic>
      <p:pic>
        <p:nvPicPr>
          <p:cNvPr id="8" name="Picture 7">
            <a:extLst>
              <a:ext uri="{FF2B5EF4-FFF2-40B4-BE49-F238E27FC236}">
                <a16:creationId xmlns:a16="http://schemas.microsoft.com/office/drawing/2014/main" id="{25A7132A-D716-A892-1996-649E2C087C6D}"/>
              </a:ext>
            </a:extLst>
          </p:cNvPr>
          <p:cNvPicPr>
            <a:picLocks noChangeAspect="1"/>
          </p:cNvPicPr>
          <p:nvPr/>
        </p:nvPicPr>
        <p:blipFill>
          <a:blip r:embed="rId3"/>
          <a:stretch>
            <a:fillRect/>
          </a:stretch>
        </p:blipFill>
        <p:spPr>
          <a:xfrm>
            <a:off x="8327459" y="2338126"/>
            <a:ext cx="3177815" cy="2476715"/>
          </a:xfrm>
          <a:prstGeom prst="rect">
            <a:avLst/>
          </a:prstGeom>
        </p:spPr>
      </p:pic>
    </p:spTree>
    <p:extLst>
      <p:ext uri="{BB962C8B-B14F-4D97-AF65-F5344CB8AC3E}">
        <p14:creationId xmlns:p14="http://schemas.microsoft.com/office/powerpoint/2010/main" val="1684235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A7C33-76C1-C6AD-4AA7-49A56DFE00A4}"/>
              </a:ext>
            </a:extLst>
          </p:cNvPr>
          <p:cNvSpPr>
            <a:spLocks noGrp="1"/>
          </p:cNvSpPr>
          <p:nvPr>
            <p:ph type="title"/>
          </p:nvPr>
        </p:nvSpPr>
        <p:spPr/>
        <p:txBody>
          <a:bodyPr/>
          <a:lstStyle/>
          <a:p>
            <a:r>
              <a:rPr lang="en-IN" b="1" dirty="0"/>
              <a:t>Proposed Methodology</a:t>
            </a:r>
            <a:endParaRPr lang="en-IN" dirty="0"/>
          </a:p>
        </p:txBody>
      </p:sp>
      <p:sp>
        <p:nvSpPr>
          <p:cNvPr id="3" name="Content Placeholder 2">
            <a:extLst>
              <a:ext uri="{FF2B5EF4-FFF2-40B4-BE49-F238E27FC236}">
                <a16:creationId xmlns:a16="http://schemas.microsoft.com/office/drawing/2014/main" id="{F393067F-E03F-AE64-527B-6C77B4F099B2}"/>
              </a:ext>
            </a:extLst>
          </p:cNvPr>
          <p:cNvSpPr>
            <a:spLocks noGrp="1"/>
          </p:cNvSpPr>
          <p:nvPr>
            <p:ph idx="1"/>
          </p:nvPr>
        </p:nvSpPr>
        <p:spPr>
          <a:xfrm>
            <a:off x="481782" y="2212258"/>
            <a:ext cx="7482348" cy="3470787"/>
          </a:xfrm>
        </p:spPr>
        <p:txBody>
          <a:bodyPr>
            <a:noAutofit/>
          </a:bodyPr>
          <a:lstStyle/>
          <a:p>
            <a:r>
              <a:rPr lang="en-IN" b="1" dirty="0"/>
              <a:t>Step 1 — Data Preparation</a:t>
            </a:r>
            <a:br>
              <a:rPr lang="en-IN" dirty="0"/>
            </a:br>
            <a:r>
              <a:rPr lang="en-IN" dirty="0"/>
              <a:t>Load the dataset and inspect its structure.</a:t>
            </a:r>
          </a:p>
          <a:p>
            <a:r>
              <a:rPr lang="en-IN" b="1" dirty="0"/>
              <a:t>Step 2 — Feature Selection</a:t>
            </a:r>
            <a:br>
              <a:rPr lang="en-IN" dirty="0"/>
            </a:br>
            <a:r>
              <a:rPr lang="en-IN" dirty="0"/>
              <a:t>Use median income and geographic coordinates as model inputs.</a:t>
            </a:r>
          </a:p>
          <a:p>
            <a:r>
              <a:rPr lang="en-IN" b="1" dirty="0"/>
              <a:t>Step 3 — Model Training</a:t>
            </a:r>
            <a:br>
              <a:rPr lang="en-IN" dirty="0"/>
            </a:br>
            <a:r>
              <a:rPr lang="en-IN" dirty="0"/>
              <a:t>Train a Random Forest regression model.</a:t>
            </a:r>
          </a:p>
          <a:p>
            <a:r>
              <a:rPr lang="en-IN" b="1" dirty="0"/>
              <a:t>Step 4 — Model Evaluation</a:t>
            </a:r>
            <a:br>
              <a:rPr lang="en-IN" dirty="0"/>
            </a:br>
            <a:r>
              <a:rPr lang="en-IN" dirty="0"/>
              <a:t>Evaluate predictions using R², MAE and RMSE.</a:t>
            </a:r>
          </a:p>
          <a:p>
            <a:r>
              <a:rPr lang="en-IN" b="1" dirty="0"/>
              <a:t>Step 5 — Deployment</a:t>
            </a:r>
            <a:br>
              <a:rPr lang="en-IN" dirty="0"/>
            </a:br>
            <a:r>
              <a:rPr lang="en-IN" dirty="0"/>
              <a:t>Save the trained model and connect it to Flask.</a:t>
            </a:r>
          </a:p>
          <a:p>
            <a:r>
              <a:rPr lang="en-IN" b="1" dirty="0"/>
              <a:t>Step 6 — User Interface</a:t>
            </a:r>
            <a:br>
              <a:rPr lang="en-IN" dirty="0"/>
            </a:br>
            <a:r>
              <a:rPr lang="en-IN" dirty="0"/>
              <a:t>Use HTML, CSS, JavaScript and Leaflet to provide interactive predictions.</a:t>
            </a:r>
          </a:p>
        </p:txBody>
      </p:sp>
      <p:pic>
        <p:nvPicPr>
          <p:cNvPr id="5" name="Picture 4">
            <a:extLst>
              <a:ext uri="{FF2B5EF4-FFF2-40B4-BE49-F238E27FC236}">
                <a16:creationId xmlns:a16="http://schemas.microsoft.com/office/drawing/2014/main" id="{00334849-3098-A000-39D0-388CDFDFAEAE}"/>
              </a:ext>
            </a:extLst>
          </p:cNvPr>
          <p:cNvPicPr>
            <a:picLocks noChangeAspect="1"/>
          </p:cNvPicPr>
          <p:nvPr/>
        </p:nvPicPr>
        <p:blipFill>
          <a:blip r:embed="rId2"/>
          <a:stretch>
            <a:fillRect/>
          </a:stretch>
        </p:blipFill>
        <p:spPr>
          <a:xfrm>
            <a:off x="7799991" y="2286000"/>
            <a:ext cx="3910227" cy="4572000"/>
          </a:xfrm>
          <a:prstGeom prst="rect">
            <a:avLst/>
          </a:prstGeom>
        </p:spPr>
      </p:pic>
    </p:spTree>
    <p:extLst>
      <p:ext uri="{BB962C8B-B14F-4D97-AF65-F5344CB8AC3E}">
        <p14:creationId xmlns:p14="http://schemas.microsoft.com/office/powerpoint/2010/main" val="246997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28EA0-9663-2C8F-5C17-0065D7462AD0}"/>
              </a:ext>
            </a:extLst>
          </p:cNvPr>
          <p:cNvSpPr>
            <a:spLocks noGrp="1"/>
          </p:cNvSpPr>
          <p:nvPr>
            <p:ph type="title"/>
          </p:nvPr>
        </p:nvSpPr>
        <p:spPr/>
        <p:txBody>
          <a:bodyPr/>
          <a:lstStyle/>
          <a:p>
            <a:r>
              <a:rPr lang="en-IN" b="1" dirty="0"/>
              <a:t>Model Development</a:t>
            </a:r>
            <a:endParaRPr lang="en-IN" dirty="0"/>
          </a:p>
        </p:txBody>
      </p:sp>
      <p:sp>
        <p:nvSpPr>
          <p:cNvPr id="3" name="Content Placeholder 2">
            <a:extLst>
              <a:ext uri="{FF2B5EF4-FFF2-40B4-BE49-F238E27FC236}">
                <a16:creationId xmlns:a16="http://schemas.microsoft.com/office/drawing/2014/main" id="{FBA4C5C2-F44B-955A-60A4-A1D525D169AB}"/>
              </a:ext>
            </a:extLst>
          </p:cNvPr>
          <p:cNvSpPr>
            <a:spLocks noGrp="1"/>
          </p:cNvSpPr>
          <p:nvPr>
            <p:ph idx="1"/>
          </p:nvPr>
        </p:nvSpPr>
        <p:spPr>
          <a:xfrm>
            <a:off x="1154955" y="2603500"/>
            <a:ext cx="4941046" cy="3807132"/>
          </a:xfrm>
        </p:spPr>
        <p:txBody>
          <a:bodyPr>
            <a:normAutofit lnSpcReduction="10000"/>
          </a:bodyPr>
          <a:lstStyle/>
          <a:p>
            <a:r>
              <a:rPr lang="en-IN" b="1" dirty="0"/>
              <a:t>Selected model:</a:t>
            </a:r>
            <a:r>
              <a:rPr lang="en-IN" dirty="0"/>
              <a:t> Random Forest Regressor</a:t>
            </a:r>
          </a:p>
          <a:p>
            <a:pPr lvl="0"/>
            <a:r>
              <a:rPr lang="en-IN" dirty="0"/>
              <a:t>Combines predictions from multiple decision trees.</a:t>
            </a:r>
          </a:p>
          <a:p>
            <a:pPr lvl="0"/>
            <a:r>
              <a:rPr lang="en-IN" dirty="0"/>
              <a:t>Can learn nonlinear relationships in structured data.</a:t>
            </a:r>
          </a:p>
          <a:p>
            <a:pPr lvl="0"/>
            <a:r>
              <a:rPr lang="en-IN" dirty="0"/>
              <a:t>Suitable for regression problems involving multiple input features.</a:t>
            </a:r>
          </a:p>
          <a:p>
            <a:pPr lvl="0"/>
            <a:r>
              <a:rPr lang="en-IN" dirty="0"/>
              <a:t>The trained model is saved as </a:t>
            </a:r>
            <a:r>
              <a:rPr lang="en-IN" dirty="0" err="1"/>
              <a:t>mumbai_housing_rf_model.pkl</a:t>
            </a:r>
            <a:r>
              <a:rPr lang="en-IN" dirty="0"/>
              <a:t>.</a:t>
            </a:r>
          </a:p>
          <a:p>
            <a:pPr lvl="0"/>
            <a:r>
              <a:rPr lang="en-IN" dirty="0"/>
              <a:t>The Flask application loads the saved model for inference.</a:t>
            </a:r>
          </a:p>
        </p:txBody>
      </p:sp>
      <p:pic>
        <p:nvPicPr>
          <p:cNvPr id="5" name="Picture 4">
            <a:extLst>
              <a:ext uri="{FF2B5EF4-FFF2-40B4-BE49-F238E27FC236}">
                <a16:creationId xmlns:a16="http://schemas.microsoft.com/office/drawing/2014/main" id="{0CC80F7F-CA09-5B75-09F1-F31FE5ABE639}"/>
              </a:ext>
            </a:extLst>
          </p:cNvPr>
          <p:cNvPicPr>
            <a:picLocks noChangeAspect="1"/>
          </p:cNvPicPr>
          <p:nvPr/>
        </p:nvPicPr>
        <p:blipFill>
          <a:blip r:embed="rId2"/>
          <a:stretch>
            <a:fillRect/>
          </a:stretch>
        </p:blipFill>
        <p:spPr>
          <a:xfrm>
            <a:off x="6091619" y="2603500"/>
            <a:ext cx="5412124" cy="3676714"/>
          </a:xfrm>
          <a:prstGeom prst="rect">
            <a:avLst/>
          </a:prstGeom>
        </p:spPr>
      </p:pic>
    </p:spTree>
    <p:extLst>
      <p:ext uri="{BB962C8B-B14F-4D97-AF65-F5344CB8AC3E}">
        <p14:creationId xmlns:p14="http://schemas.microsoft.com/office/powerpoint/2010/main" val="2969601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498DD-1588-C639-CE4A-0958FD2EC59B}"/>
              </a:ext>
            </a:extLst>
          </p:cNvPr>
          <p:cNvSpPr>
            <a:spLocks noGrp="1"/>
          </p:cNvSpPr>
          <p:nvPr>
            <p:ph type="title"/>
          </p:nvPr>
        </p:nvSpPr>
        <p:spPr/>
        <p:txBody>
          <a:bodyPr/>
          <a:lstStyle/>
          <a:p>
            <a:r>
              <a:rPr lang="en-IN" b="1" dirty="0"/>
              <a:t>Model Evaluation and Results</a:t>
            </a:r>
            <a:endParaRPr lang="en-IN" dirty="0"/>
          </a:p>
        </p:txBody>
      </p:sp>
      <p:sp>
        <p:nvSpPr>
          <p:cNvPr id="3" name="Content Placeholder 2">
            <a:extLst>
              <a:ext uri="{FF2B5EF4-FFF2-40B4-BE49-F238E27FC236}">
                <a16:creationId xmlns:a16="http://schemas.microsoft.com/office/drawing/2014/main" id="{17A897E1-25A0-7A26-1733-BC09115470D2}"/>
              </a:ext>
            </a:extLst>
          </p:cNvPr>
          <p:cNvSpPr>
            <a:spLocks noGrp="1"/>
          </p:cNvSpPr>
          <p:nvPr>
            <p:ph idx="1"/>
          </p:nvPr>
        </p:nvSpPr>
        <p:spPr>
          <a:xfrm>
            <a:off x="1154954" y="2369574"/>
            <a:ext cx="5432659" cy="4247536"/>
          </a:xfrm>
        </p:spPr>
        <p:txBody>
          <a:bodyPr>
            <a:normAutofit/>
          </a:bodyPr>
          <a:lstStyle/>
          <a:p>
            <a:pPr lvl="0"/>
            <a:r>
              <a:rPr lang="en-IN" dirty="0"/>
              <a:t>The model achieved an R² score of approximately 0.978 on the test set.</a:t>
            </a:r>
          </a:p>
          <a:p>
            <a:pPr lvl="0"/>
            <a:r>
              <a:rPr lang="en-IN" dirty="0"/>
              <a:t>MAE represents the average absolute prediction error.</a:t>
            </a:r>
          </a:p>
          <a:p>
            <a:pPr lvl="0"/>
            <a:r>
              <a:rPr lang="en-IN" dirty="0"/>
              <a:t>RMSE gives greater weight to larger prediction errors.</a:t>
            </a:r>
          </a:p>
          <a:p>
            <a:pPr lvl="0"/>
            <a:r>
              <a:rPr lang="en-IN" dirty="0"/>
              <a:t>These metrics describe performance on the held-out test set, not guaranteed performance for every new property.</a:t>
            </a:r>
          </a:p>
          <a:p>
            <a:r>
              <a:rPr lang="en-IN" i="1" dirty="0"/>
              <a:t>Note: The repository describes the target values in rupees; validate the target units before presenting the monetary error values as rupee amounts.</a:t>
            </a:r>
            <a:endParaRPr lang="en-IN" dirty="0"/>
          </a:p>
        </p:txBody>
      </p:sp>
      <p:pic>
        <p:nvPicPr>
          <p:cNvPr id="5" name="Picture 4">
            <a:extLst>
              <a:ext uri="{FF2B5EF4-FFF2-40B4-BE49-F238E27FC236}">
                <a16:creationId xmlns:a16="http://schemas.microsoft.com/office/drawing/2014/main" id="{57B559E9-FD44-157E-01F9-DE2281812D23}"/>
              </a:ext>
            </a:extLst>
          </p:cNvPr>
          <p:cNvPicPr>
            <a:picLocks noChangeAspect="1"/>
          </p:cNvPicPr>
          <p:nvPr/>
        </p:nvPicPr>
        <p:blipFill>
          <a:blip r:embed="rId2"/>
          <a:stretch>
            <a:fillRect/>
          </a:stretch>
        </p:blipFill>
        <p:spPr>
          <a:xfrm>
            <a:off x="6715432" y="2294074"/>
            <a:ext cx="4768645" cy="4398535"/>
          </a:xfrm>
          <a:prstGeom prst="rect">
            <a:avLst/>
          </a:prstGeom>
        </p:spPr>
      </p:pic>
    </p:spTree>
    <p:extLst>
      <p:ext uri="{BB962C8B-B14F-4D97-AF65-F5344CB8AC3E}">
        <p14:creationId xmlns:p14="http://schemas.microsoft.com/office/powerpoint/2010/main" val="361169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C7D7-EE86-4CEE-6ABF-24C1FC0ECBAC}"/>
              </a:ext>
            </a:extLst>
          </p:cNvPr>
          <p:cNvSpPr>
            <a:spLocks noGrp="1"/>
          </p:cNvSpPr>
          <p:nvPr>
            <p:ph type="title"/>
          </p:nvPr>
        </p:nvSpPr>
        <p:spPr/>
        <p:txBody>
          <a:bodyPr/>
          <a:lstStyle/>
          <a:p>
            <a:r>
              <a:rPr lang="en-IN" b="1" dirty="0"/>
              <a:t>System Architecture</a:t>
            </a:r>
            <a:endParaRPr lang="en-IN" dirty="0"/>
          </a:p>
        </p:txBody>
      </p:sp>
      <p:sp>
        <p:nvSpPr>
          <p:cNvPr id="3" name="Content Placeholder 2">
            <a:extLst>
              <a:ext uri="{FF2B5EF4-FFF2-40B4-BE49-F238E27FC236}">
                <a16:creationId xmlns:a16="http://schemas.microsoft.com/office/drawing/2014/main" id="{67354452-3712-8CFC-DFC4-B128429559FE}"/>
              </a:ext>
            </a:extLst>
          </p:cNvPr>
          <p:cNvSpPr>
            <a:spLocks noGrp="1"/>
          </p:cNvSpPr>
          <p:nvPr>
            <p:ph idx="1"/>
          </p:nvPr>
        </p:nvSpPr>
        <p:spPr>
          <a:xfrm>
            <a:off x="1154955" y="2094271"/>
            <a:ext cx="5049200" cy="4763729"/>
          </a:xfrm>
        </p:spPr>
        <p:txBody>
          <a:bodyPr>
            <a:normAutofit fontScale="92500" lnSpcReduction="20000"/>
          </a:bodyPr>
          <a:lstStyle/>
          <a:p>
            <a:pPr marL="0" indent="0">
              <a:buNone/>
            </a:pPr>
            <a:r>
              <a:rPr lang="en-IN" sz="1900" b="1" dirty="0"/>
              <a:t>Frontend</a:t>
            </a:r>
            <a:endParaRPr lang="en-IN" sz="1900" dirty="0"/>
          </a:p>
          <a:p>
            <a:pPr lvl="0"/>
            <a:r>
              <a:rPr lang="en-IN" sz="1900" dirty="0"/>
              <a:t>HTML</a:t>
            </a:r>
          </a:p>
          <a:p>
            <a:pPr lvl="0"/>
            <a:r>
              <a:rPr lang="en-IN" sz="1900" dirty="0"/>
              <a:t>CSS</a:t>
            </a:r>
          </a:p>
          <a:p>
            <a:pPr lvl="0"/>
            <a:r>
              <a:rPr lang="en-IN" sz="1900" dirty="0"/>
              <a:t>JavaScript</a:t>
            </a:r>
          </a:p>
          <a:p>
            <a:pPr lvl="0"/>
            <a:r>
              <a:rPr lang="en-IN" sz="1900" dirty="0"/>
              <a:t>Leaflet map</a:t>
            </a:r>
          </a:p>
          <a:p>
            <a:pPr marL="0" indent="0">
              <a:buNone/>
            </a:pPr>
            <a:r>
              <a:rPr lang="en-IN" sz="1900" b="1" dirty="0"/>
              <a:t>Backend</a:t>
            </a:r>
            <a:endParaRPr lang="en-IN" sz="1900" dirty="0"/>
          </a:p>
          <a:p>
            <a:pPr lvl="0"/>
            <a:r>
              <a:rPr lang="en-IN" sz="1900" dirty="0"/>
              <a:t>Flask application</a:t>
            </a:r>
          </a:p>
          <a:p>
            <a:pPr lvl="0"/>
            <a:r>
              <a:rPr lang="en-IN" sz="1900" dirty="0"/>
              <a:t>Input handling</a:t>
            </a:r>
          </a:p>
          <a:p>
            <a:pPr lvl="0"/>
            <a:r>
              <a:rPr lang="en-IN" sz="1900" dirty="0"/>
              <a:t>Prediction request processing</a:t>
            </a:r>
          </a:p>
          <a:p>
            <a:pPr marL="0" indent="0">
              <a:buNone/>
            </a:pPr>
            <a:r>
              <a:rPr lang="en-IN" sz="1900" b="1" dirty="0"/>
              <a:t>Machine-Learning Layer</a:t>
            </a:r>
            <a:endParaRPr lang="en-IN" sz="1900" dirty="0"/>
          </a:p>
          <a:p>
            <a:pPr lvl="0"/>
            <a:r>
              <a:rPr lang="en-IN" sz="1900" dirty="0"/>
              <a:t>Saved Random Forest model</a:t>
            </a:r>
          </a:p>
          <a:p>
            <a:pPr lvl="0"/>
            <a:r>
              <a:rPr lang="en-IN" sz="1900" dirty="0"/>
              <a:t>Three selected model features</a:t>
            </a:r>
          </a:p>
          <a:p>
            <a:pPr lvl="0"/>
            <a:r>
              <a:rPr lang="en-IN" sz="1900" dirty="0"/>
              <a:t>Predicted housing value returned to the interface</a:t>
            </a:r>
          </a:p>
          <a:p>
            <a:pPr marL="0" indent="0">
              <a:buNone/>
            </a:pPr>
            <a:endParaRPr lang="en-IN" dirty="0"/>
          </a:p>
        </p:txBody>
      </p:sp>
      <p:pic>
        <p:nvPicPr>
          <p:cNvPr id="5" name="Picture 4">
            <a:extLst>
              <a:ext uri="{FF2B5EF4-FFF2-40B4-BE49-F238E27FC236}">
                <a16:creationId xmlns:a16="http://schemas.microsoft.com/office/drawing/2014/main" id="{A72DA5FA-376D-4D28-CD65-D6773EB6F8D0}"/>
              </a:ext>
            </a:extLst>
          </p:cNvPr>
          <p:cNvPicPr>
            <a:picLocks noChangeAspect="1"/>
          </p:cNvPicPr>
          <p:nvPr/>
        </p:nvPicPr>
        <p:blipFill>
          <a:blip r:embed="rId2"/>
          <a:stretch>
            <a:fillRect/>
          </a:stretch>
        </p:blipFill>
        <p:spPr>
          <a:xfrm>
            <a:off x="6406584" y="2310581"/>
            <a:ext cx="5049199" cy="4400048"/>
          </a:xfrm>
          <a:prstGeom prst="rect">
            <a:avLst/>
          </a:prstGeom>
        </p:spPr>
      </p:pic>
    </p:spTree>
    <p:extLst>
      <p:ext uri="{BB962C8B-B14F-4D97-AF65-F5344CB8AC3E}">
        <p14:creationId xmlns:p14="http://schemas.microsoft.com/office/powerpoint/2010/main" val="2668803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F7A6E-FEC4-45F6-70B2-532B56FE7A2A}"/>
              </a:ext>
            </a:extLst>
          </p:cNvPr>
          <p:cNvSpPr>
            <a:spLocks noGrp="1"/>
          </p:cNvSpPr>
          <p:nvPr>
            <p:ph type="title"/>
          </p:nvPr>
        </p:nvSpPr>
        <p:spPr/>
        <p:txBody>
          <a:bodyPr/>
          <a:lstStyle/>
          <a:p>
            <a:r>
              <a:rPr lang="en-IN" b="1" dirty="0"/>
              <a:t>Application Interface</a:t>
            </a:r>
            <a:endParaRPr lang="en-IN" dirty="0"/>
          </a:p>
        </p:txBody>
      </p:sp>
      <p:sp>
        <p:nvSpPr>
          <p:cNvPr id="3" name="Content Placeholder 2">
            <a:extLst>
              <a:ext uri="{FF2B5EF4-FFF2-40B4-BE49-F238E27FC236}">
                <a16:creationId xmlns:a16="http://schemas.microsoft.com/office/drawing/2014/main" id="{7350CF5F-1EBE-0A60-5641-78AD2D58DE58}"/>
              </a:ext>
            </a:extLst>
          </p:cNvPr>
          <p:cNvSpPr>
            <a:spLocks noGrp="1"/>
          </p:cNvSpPr>
          <p:nvPr>
            <p:ph idx="1"/>
          </p:nvPr>
        </p:nvSpPr>
        <p:spPr>
          <a:xfrm>
            <a:off x="511278" y="2261419"/>
            <a:ext cx="4326193" cy="4522839"/>
          </a:xfrm>
        </p:spPr>
        <p:txBody>
          <a:bodyPr>
            <a:normAutofit fontScale="92500" lnSpcReduction="20000"/>
          </a:bodyPr>
          <a:lstStyle/>
          <a:p>
            <a:pPr lvl="0"/>
            <a:r>
              <a:rPr lang="en-IN" dirty="0"/>
              <a:t>Browser-based application for housing-value prediction.</a:t>
            </a:r>
          </a:p>
          <a:p>
            <a:pPr lvl="0"/>
            <a:r>
              <a:rPr lang="en-IN" dirty="0"/>
              <a:t>Interactive Leaflet map for geographic exploration.</a:t>
            </a:r>
          </a:p>
          <a:p>
            <a:pPr lvl="0"/>
            <a:r>
              <a:rPr lang="en-IN" dirty="0"/>
              <a:t>Users can select a location and adjust the model inputs.</a:t>
            </a:r>
          </a:p>
          <a:p>
            <a:pPr lvl="0"/>
            <a:r>
              <a:rPr lang="en-IN" dirty="0"/>
              <a:t>The map marker represents the selected coordinates.</a:t>
            </a:r>
          </a:p>
          <a:p>
            <a:pPr lvl="0"/>
            <a:r>
              <a:rPr lang="en-IN" dirty="0"/>
              <a:t>The interface supports interactive prediction updates.</a:t>
            </a:r>
          </a:p>
          <a:p>
            <a:r>
              <a:rPr lang="en-IN" b="1" dirty="0"/>
              <a:t>Important implementation detail:</a:t>
            </a:r>
            <a:r>
              <a:rPr lang="en-IN" dirty="0"/>
              <a:t> Only </a:t>
            </a:r>
            <a:r>
              <a:rPr lang="en-IN" dirty="0" err="1"/>
              <a:t>median_income</a:t>
            </a:r>
            <a:r>
              <a:rPr lang="en-IN" dirty="0"/>
              <a:t>, latitude and longitude affect the current model. Any extra fields displayed by the interface are not used in the prediction unless the model is retrained to include them.</a:t>
            </a:r>
          </a:p>
        </p:txBody>
      </p:sp>
      <p:pic>
        <p:nvPicPr>
          <p:cNvPr id="7" name="Picture 6">
            <a:extLst>
              <a:ext uri="{FF2B5EF4-FFF2-40B4-BE49-F238E27FC236}">
                <a16:creationId xmlns:a16="http://schemas.microsoft.com/office/drawing/2014/main" id="{68560F3C-9289-FA36-F640-B43060E9C591}"/>
              </a:ext>
            </a:extLst>
          </p:cNvPr>
          <p:cNvPicPr>
            <a:picLocks noChangeAspect="1"/>
          </p:cNvPicPr>
          <p:nvPr/>
        </p:nvPicPr>
        <p:blipFill>
          <a:blip r:embed="rId2"/>
          <a:stretch>
            <a:fillRect/>
          </a:stretch>
        </p:blipFill>
        <p:spPr>
          <a:xfrm>
            <a:off x="4837471" y="2261419"/>
            <a:ext cx="7207045" cy="4257368"/>
          </a:xfrm>
          <a:prstGeom prst="rect">
            <a:avLst/>
          </a:prstGeom>
        </p:spPr>
      </p:pic>
    </p:spTree>
    <p:extLst>
      <p:ext uri="{BB962C8B-B14F-4D97-AF65-F5344CB8AC3E}">
        <p14:creationId xmlns:p14="http://schemas.microsoft.com/office/powerpoint/2010/main" val="137301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56E84-70E8-9CE4-5B4C-7E6E6F5D9B60}"/>
              </a:ext>
            </a:extLst>
          </p:cNvPr>
          <p:cNvSpPr>
            <a:spLocks noGrp="1"/>
          </p:cNvSpPr>
          <p:nvPr>
            <p:ph type="title"/>
          </p:nvPr>
        </p:nvSpPr>
        <p:spPr/>
        <p:txBody>
          <a:bodyPr/>
          <a:lstStyle/>
          <a:p>
            <a:r>
              <a:rPr lang="en-IN" b="1" dirty="0"/>
              <a:t>Strengths and Limitations</a:t>
            </a:r>
            <a:endParaRPr lang="en-IN" dirty="0"/>
          </a:p>
        </p:txBody>
      </p:sp>
      <p:sp>
        <p:nvSpPr>
          <p:cNvPr id="3" name="Content Placeholder 2">
            <a:extLst>
              <a:ext uri="{FF2B5EF4-FFF2-40B4-BE49-F238E27FC236}">
                <a16:creationId xmlns:a16="http://schemas.microsoft.com/office/drawing/2014/main" id="{63BCB780-DCAE-6F1E-80E4-E9607567A94B}"/>
              </a:ext>
            </a:extLst>
          </p:cNvPr>
          <p:cNvSpPr>
            <a:spLocks noGrp="1"/>
          </p:cNvSpPr>
          <p:nvPr>
            <p:ph sz="half" idx="1"/>
          </p:nvPr>
        </p:nvSpPr>
        <p:spPr>
          <a:xfrm>
            <a:off x="1154954" y="2603500"/>
            <a:ext cx="4825158" cy="3416300"/>
          </a:xfrm>
        </p:spPr>
        <p:txBody>
          <a:bodyPr>
            <a:normAutofit lnSpcReduction="10000"/>
          </a:bodyPr>
          <a:lstStyle/>
          <a:p>
            <a:pPr marL="0" indent="0">
              <a:buNone/>
            </a:pPr>
            <a:r>
              <a:rPr lang="en-IN" b="1" dirty="0"/>
              <a:t>Strengths:</a:t>
            </a:r>
            <a:endParaRPr lang="en-IN" dirty="0"/>
          </a:p>
          <a:p>
            <a:pPr lvl="0"/>
            <a:r>
              <a:rPr lang="en-IN" dirty="0"/>
              <a:t>Combines machine learning and web deployment.</a:t>
            </a:r>
          </a:p>
          <a:p>
            <a:pPr lvl="0"/>
            <a:r>
              <a:rPr lang="en-IN" dirty="0"/>
              <a:t>Provides an interactive geographic interface.</a:t>
            </a:r>
          </a:p>
          <a:p>
            <a:pPr lvl="0"/>
            <a:r>
              <a:rPr lang="en-IN" dirty="0"/>
              <a:t>Uses standard regression metrics for evaluation.</a:t>
            </a:r>
          </a:p>
          <a:p>
            <a:pPr lvl="0"/>
            <a:r>
              <a:rPr lang="en-IN" dirty="0"/>
              <a:t>Demonstrates an end-to-end prediction workflow.</a:t>
            </a:r>
          </a:p>
        </p:txBody>
      </p:sp>
      <p:sp>
        <p:nvSpPr>
          <p:cNvPr id="4" name="Content Placeholder 3">
            <a:extLst>
              <a:ext uri="{FF2B5EF4-FFF2-40B4-BE49-F238E27FC236}">
                <a16:creationId xmlns:a16="http://schemas.microsoft.com/office/drawing/2014/main" id="{F23D4F28-9013-5127-FB1F-344F1618CA44}"/>
              </a:ext>
            </a:extLst>
          </p:cNvPr>
          <p:cNvSpPr>
            <a:spLocks noGrp="1"/>
          </p:cNvSpPr>
          <p:nvPr>
            <p:ph sz="half" idx="2"/>
          </p:nvPr>
        </p:nvSpPr>
        <p:spPr/>
        <p:txBody>
          <a:bodyPr>
            <a:normAutofit lnSpcReduction="10000"/>
          </a:bodyPr>
          <a:lstStyle/>
          <a:p>
            <a:pPr marL="0" indent="0">
              <a:buNone/>
            </a:pPr>
            <a:r>
              <a:rPr lang="en-IN" b="1" dirty="0"/>
              <a:t>Limitations:</a:t>
            </a:r>
            <a:endParaRPr lang="en-IN" dirty="0"/>
          </a:p>
          <a:p>
            <a:pPr lvl="0"/>
            <a:r>
              <a:rPr lang="en-IN" dirty="0"/>
              <a:t>The model currently uses only three features.</a:t>
            </a:r>
          </a:p>
          <a:p>
            <a:pPr lvl="0"/>
            <a:r>
              <a:rPr lang="en-IN" dirty="0"/>
              <a:t>A high random-split R² does not establish performance in unseen neighbourhoods.</a:t>
            </a:r>
          </a:p>
          <a:p>
            <a:pPr lvl="0"/>
            <a:r>
              <a:rPr lang="en-IN" dirty="0"/>
              <a:t>Dataset provenance, price units and market representativeness require independent validation.</a:t>
            </a:r>
          </a:p>
          <a:p>
            <a:pPr lvl="0"/>
            <a:r>
              <a:rPr lang="en-IN" dirty="0"/>
              <a:t>Predictions should not be treated as verified property valuations.</a:t>
            </a:r>
          </a:p>
        </p:txBody>
      </p:sp>
    </p:spTree>
    <p:extLst>
      <p:ext uri="{BB962C8B-B14F-4D97-AF65-F5344CB8AC3E}">
        <p14:creationId xmlns:p14="http://schemas.microsoft.com/office/powerpoint/2010/main" val="557063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835A-A6BD-9ECC-7A92-ADF72BE41033}"/>
              </a:ext>
            </a:extLst>
          </p:cNvPr>
          <p:cNvSpPr>
            <a:spLocks noGrp="1"/>
          </p:cNvSpPr>
          <p:nvPr>
            <p:ph type="title"/>
          </p:nvPr>
        </p:nvSpPr>
        <p:spPr/>
        <p:txBody>
          <a:bodyPr/>
          <a:lstStyle/>
          <a:p>
            <a:r>
              <a:rPr lang="en-IN" sz="1800" b="1" dirty="0"/>
              <a:t>Conclusion:</a:t>
            </a:r>
            <a:br>
              <a:rPr lang="en-IN" sz="1800" dirty="0"/>
            </a:br>
            <a:r>
              <a:rPr lang="en-IN" sz="1800" dirty="0"/>
              <a:t>1. A Random Forest regression model  was trained and evaluated for    housing-value prediction.</a:t>
            </a:r>
            <a:br>
              <a:rPr lang="en-IN" sz="1800" dirty="0"/>
            </a:br>
            <a:r>
              <a:rPr lang="en-IN" sz="1800" dirty="0"/>
              <a:t>2. The model achieved a test-set R² score of 0.9782.</a:t>
            </a:r>
            <a:br>
              <a:rPr lang="en-IN" sz="1800" dirty="0"/>
            </a:br>
            <a:r>
              <a:rPr lang="en-IN" sz="1800" dirty="0"/>
              <a:t>3. Flask and Leaflet were used to build an interactive prediction prototype.</a:t>
            </a:r>
            <a:br>
              <a:rPr lang="en-IN" sz="1800" dirty="0"/>
            </a:br>
            <a:r>
              <a:rPr lang="en-IN" sz="1800" dirty="0"/>
              <a:t>4. The project demonstrates how a trained machine-learning model can be integrated into a geographic web application.</a:t>
            </a:r>
            <a:br>
              <a:rPr lang="en-IN" sz="1800" dirty="0"/>
            </a:br>
            <a:endParaRPr lang="en-IN" sz="1800" dirty="0"/>
          </a:p>
        </p:txBody>
      </p:sp>
      <p:sp>
        <p:nvSpPr>
          <p:cNvPr id="3" name="Text Placeholder 2">
            <a:extLst>
              <a:ext uri="{FF2B5EF4-FFF2-40B4-BE49-F238E27FC236}">
                <a16:creationId xmlns:a16="http://schemas.microsoft.com/office/drawing/2014/main" id="{C9690EA0-E171-779A-0763-357C6CD2647C}"/>
              </a:ext>
            </a:extLst>
          </p:cNvPr>
          <p:cNvSpPr>
            <a:spLocks noGrp="1"/>
          </p:cNvSpPr>
          <p:nvPr>
            <p:ph type="body" idx="1"/>
          </p:nvPr>
        </p:nvSpPr>
        <p:spPr>
          <a:xfrm>
            <a:off x="6895559" y="1956619"/>
            <a:ext cx="4588518" cy="4011562"/>
          </a:xfrm>
        </p:spPr>
        <p:txBody>
          <a:bodyPr>
            <a:normAutofit/>
          </a:bodyPr>
          <a:lstStyle/>
          <a:p>
            <a:r>
              <a:rPr lang="en-IN" sz="1800" b="1" dirty="0">
                <a:solidFill>
                  <a:schemeClr val="tx1"/>
                </a:solidFill>
              </a:rPr>
              <a:t>Future scope:</a:t>
            </a:r>
            <a:endParaRPr lang="en-IN" sz="1800" dirty="0">
              <a:solidFill>
                <a:schemeClr val="tx1"/>
              </a:solidFill>
            </a:endParaRPr>
          </a:p>
          <a:p>
            <a:pPr lvl="0"/>
            <a:r>
              <a:rPr lang="en-IN" sz="1800" dirty="0">
                <a:solidFill>
                  <a:schemeClr val="tx1"/>
                </a:solidFill>
              </a:rPr>
              <a:t>1. Validate the dataset and target units against reliable market data.</a:t>
            </a:r>
          </a:p>
          <a:p>
            <a:pPr lvl="0"/>
            <a:r>
              <a:rPr lang="en-IN" sz="1800" dirty="0">
                <a:solidFill>
                  <a:schemeClr val="tx1"/>
                </a:solidFill>
              </a:rPr>
              <a:t>2. Conduct spatial or neighbourhood-based validation.</a:t>
            </a:r>
          </a:p>
          <a:p>
            <a:pPr lvl="0"/>
            <a:r>
              <a:rPr lang="en-IN" sz="1800" dirty="0">
                <a:solidFill>
                  <a:schemeClr val="tx1"/>
                </a:solidFill>
              </a:rPr>
              <a:t>3. Evaluate additional features and alternative models.</a:t>
            </a:r>
          </a:p>
          <a:p>
            <a:pPr lvl="0"/>
            <a:r>
              <a:rPr lang="en-IN" sz="1800" dirty="0">
                <a:solidFill>
                  <a:schemeClr val="tx1"/>
                </a:solidFill>
              </a:rPr>
              <a:t>4. Add SHAP-based explanations for individual predictions.</a:t>
            </a:r>
          </a:p>
          <a:p>
            <a:pPr lvl="0"/>
            <a:r>
              <a:rPr lang="en-IN" sz="1800" dirty="0">
                <a:solidFill>
                  <a:schemeClr val="tx1"/>
                </a:solidFill>
              </a:rPr>
              <a:t>5. Improve prediction reliability and deployment.</a:t>
            </a:r>
          </a:p>
          <a:p>
            <a:endParaRPr lang="en-IN" sz="1800" dirty="0">
              <a:solidFill>
                <a:schemeClr val="tx1"/>
              </a:solidFill>
            </a:endParaRPr>
          </a:p>
        </p:txBody>
      </p:sp>
      <p:sp>
        <p:nvSpPr>
          <p:cNvPr id="4" name="TextBox 3">
            <a:extLst>
              <a:ext uri="{FF2B5EF4-FFF2-40B4-BE49-F238E27FC236}">
                <a16:creationId xmlns:a16="http://schemas.microsoft.com/office/drawing/2014/main" id="{F0C91DEA-587F-6243-07AA-0599D3AA7D3A}"/>
              </a:ext>
            </a:extLst>
          </p:cNvPr>
          <p:cNvSpPr txBox="1"/>
          <p:nvPr/>
        </p:nvSpPr>
        <p:spPr>
          <a:xfrm>
            <a:off x="808975" y="1189705"/>
            <a:ext cx="5287025" cy="523220"/>
          </a:xfrm>
          <a:prstGeom prst="rect">
            <a:avLst/>
          </a:prstGeom>
          <a:noFill/>
        </p:spPr>
        <p:txBody>
          <a:bodyPr wrap="none" rtlCol="0">
            <a:spAutoFit/>
          </a:bodyPr>
          <a:lstStyle/>
          <a:p>
            <a:r>
              <a:rPr lang="en-IN" sz="2800" b="1" dirty="0">
                <a:solidFill>
                  <a:schemeClr val="bg1"/>
                </a:solidFill>
              </a:rPr>
              <a:t>Conclusion and Future Scope</a:t>
            </a:r>
          </a:p>
        </p:txBody>
      </p:sp>
    </p:spTree>
    <p:extLst>
      <p:ext uri="{BB962C8B-B14F-4D97-AF65-F5344CB8AC3E}">
        <p14:creationId xmlns:p14="http://schemas.microsoft.com/office/powerpoint/2010/main" val="3442665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32D4B-F740-4C6F-DB23-83F354820C5F}"/>
              </a:ext>
            </a:extLst>
          </p:cNvPr>
          <p:cNvSpPr>
            <a:spLocks noGrp="1"/>
          </p:cNvSpPr>
          <p:nvPr>
            <p:ph type="title"/>
          </p:nvPr>
        </p:nvSpPr>
        <p:spPr/>
        <p:txBody>
          <a:bodyPr/>
          <a:lstStyle/>
          <a:p>
            <a:r>
              <a:rPr lang="en-IN" b="1" dirty="0"/>
              <a:t>References</a:t>
            </a:r>
            <a:endParaRPr lang="en-IN" dirty="0"/>
          </a:p>
        </p:txBody>
      </p:sp>
      <p:sp>
        <p:nvSpPr>
          <p:cNvPr id="3" name="Content Placeholder 2">
            <a:extLst>
              <a:ext uri="{FF2B5EF4-FFF2-40B4-BE49-F238E27FC236}">
                <a16:creationId xmlns:a16="http://schemas.microsoft.com/office/drawing/2014/main" id="{00E65B45-EEF5-3BAA-A215-E1D56DB66B1B}"/>
              </a:ext>
            </a:extLst>
          </p:cNvPr>
          <p:cNvSpPr>
            <a:spLocks noGrp="1"/>
          </p:cNvSpPr>
          <p:nvPr>
            <p:ph idx="1"/>
          </p:nvPr>
        </p:nvSpPr>
        <p:spPr>
          <a:xfrm>
            <a:off x="501446" y="2281085"/>
            <a:ext cx="11228438" cy="4188542"/>
          </a:xfrm>
        </p:spPr>
        <p:txBody>
          <a:bodyPr>
            <a:noAutofit/>
          </a:bodyPr>
          <a:lstStyle/>
          <a:p>
            <a:r>
              <a:rPr lang="en-IN" sz="1700" b="1" dirty="0"/>
              <a:t>[1]</a:t>
            </a:r>
            <a:r>
              <a:rPr lang="en-IN" sz="1700" dirty="0"/>
              <a:t> Deng, L., &amp; Zhang, X. (2025). “Boosting the Accuracy of Property Valuation with Ensemble Learning and Explainable Artificial Intelligence: The Case of Hong Kong.” </a:t>
            </a:r>
            <a:r>
              <a:rPr lang="en-IN" sz="1700" i="1" dirty="0"/>
              <a:t>The Annals of Regional Science, 74</a:t>
            </a:r>
            <a:r>
              <a:rPr lang="en-IN" sz="1700" dirty="0"/>
              <a:t>, 32.</a:t>
            </a:r>
            <a:br>
              <a:rPr lang="en-IN" sz="1700" dirty="0"/>
            </a:br>
            <a:r>
              <a:rPr lang="en-IN" sz="1700" dirty="0">
                <a:hlinkClick r:id="rId2"/>
              </a:rPr>
              <a:t>https://doi.org/10.1007/s00168-025-01365-7</a:t>
            </a:r>
            <a:endParaRPr lang="en-IN" sz="1700" dirty="0"/>
          </a:p>
          <a:p>
            <a:r>
              <a:rPr lang="en-IN" sz="1700" b="1" dirty="0"/>
              <a:t>[2]</a:t>
            </a:r>
            <a:r>
              <a:rPr lang="en-IN" sz="1700" dirty="0"/>
              <a:t> Asal, B. (2025). “Interpretable House Price Prediction Using Ensemble Learning and Explainable AI Techniques.” </a:t>
            </a:r>
            <a:r>
              <a:rPr lang="en-IN" sz="1700" i="1" dirty="0"/>
              <a:t>2025 9th International Symposium on Innovative Approaches in Smart Technologies (ISAS).</a:t>
            </a:r>
            <a:br>
              <a:rPr lang="en-IN" sz="1700" dirty="0"/>
            </a:br>
            <a:r>
              <a:rPr lang="en-IN" sz="1700" dirty="0">
                <a:hlinkClick r:id="rId3"/>
              </a:rPr>
              <a:t>https://doi.org/10.1109/ISAS66241.2025.11101915</a:t>
            </a:r>
            <a:endParaRPr lang="en-IN" sz="1700" dirty="0"/>
          </a:p>
          <a:p>
            <a:r>
              <a:rPr lang="en-IN" sz="1700" b="1" dirty="0"/>
              <a:t>[3]</a:t>
            </a:r>
            <a:r>
              <a:rPr lang="en-IN" sz="1700" dirty="0"/>
              <a:t> Noh, Y., &amp; Park, C. Y. (2026). “Explainable Machine Learning for Urban Housing Prices: Policy Relevant Diagnostics Across Three Cities.” </a:t>
            </a:r>
            <a:r>
              <a:rPr lang="en-IN" sz="1700" i="1" dirty="0"/>
              <a:t>Cities, 176</a:t>
            </a:r>
            <a:r>
              <a:rPr lang="en-IN" sz="1700" dirty="0"/>
              <a:t>, 107266.</a:t>
            </a:r>
            <a:br>
              <a:rPr lang="en-IN" sz="1700" dirty="0"/>
            </a:br>
            <a:r>
              <a:rPr lang="en-IN" sz="1700" dirty="0">
                <a:hlinkClick r:id="rId4"/>
              </a:rPr>
              <a:t>https://doi.org/10.1016/j.cities.2026.107266</a:t>
            </a:r>
            <a:endParaRPr lang="en-IN" sz="1700" dirty="0"/>
          </a:p>
          <a:p>
            <a:r>
              <a:rPr lang="en-IN" sz="1700" b="1" dirty="0"/>
              <a:t>[4]</a:t>
            </a:r>
            <a:r>
              <a:rPr lang="en-IN" sz="1700" dirty="0"/>
              <a:t> </a:t>
            </a:r>
            <a:r>
              <a:rPr lang="en-IN" sz="1700" dirty="0" err="1"/>
              <a:t>hindav</a:t>
            </a:r>
            <a:r>
              <a:rPr lang="en-IN" sz="1700" dirty="0"/>
              <a:t>. </a:t>
            </a:r>
            <a:r>
              <a:rPr lang="en-IN" sz="1700" i="1" dirty="0"/>
              <a:t>Mumbai-Housing-Prices Dataset.</a:t>
            </a:r>
            <a:r>
              <a:rPr lang="en-IN" sz="1700" dirty="0"/>
              <a:t> GitHub.</a:t>
            </a:r>
            <a:br>
              <a:rPr lang="en-IN" sz="1700" dirty="0"/>
            </a:br>
            <a:r>
              <a:rPr lang="en-IN" sz="1700" dirty="0">
                <a:hlinkClick r:id="rId5"/>
              </a:rPr>
              <a:t>https://github.com/hindav/Mumbai-Housing-Prices</a:t>
            </a:r>
            <a:endParaRPr lang="en-IN" sz="1700" dirty="0"/>
          </a:p>
          <a:p>
            <a:r>
              <a:rPr lang="en-IN" sz="1700" b="1" dirty="0"/>
              <a:t>[5]</a:t>
            </a:r>
            <a:r>
              <a:rPr lang="en-IN" sz="1700" dirty="0"/>
              <a:t> Scikit-learn. </a:t>
            </a:r>
            <a:r>
              <a:rPr lang="en-IN" sz="1700" i="1" dirty="0"/>
              <a:t>Model Evaluation Documentation.</a:t>
            </a:r>
            <a:br>
              <a:rPr lang="en-IN" sz="1700" dirty="0"/>
            </a:br>
            <a:r>
              <a:rPr lang="en-IN" sz="1700" dirty="0">
                <a:hlinkClick r:id="rId6"/>
              </a:rPr>
              <a:t>https://scikit-learn.org/stable/modules/model_evaluation.html</a:t>
            </a:r>
            <a:endParaRPr lang="en-IN" sz="1700" dirty="0"/>
          </a:p>
        </p:txBody>
      </p:sp>
    </p:spTree>
    <p:extLst>
      <p:ext uri="{BB962C8B-B14F-4D97-AF65-F5344CB8AC3E}">
        <p14:creationId xmlns:p14="http://schemas.microsoft.com/office/powerpoint/2010/main" val="7362374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{064C04F2-0208-4C81-AFFF-207A320DE624}TF229edf6a-8a49-49ee-a0a6-5037052947485fb3ca0c-bc27bf41d645</Template>
  <TotalTime>106</TotalTime>
  <Words>1091</Words>
  <Application>Microsoft Office PowerPoint</Application>
  <PresentationFormat>Widescreen</PresentationFormat>
  <Paragraphs>98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 Boardroom</vt:lpstr>
      <vt:lpstr> MACHINE LEARNING FOR URBAN HOUSING PRICE PREDICTION A Smart-City Decision Support Approach Using Random Forest Project: Mumbai Housing Value Engine MGM University • IICT </vt:lpstr>
      <vt:lpstr> Project Overview </vt:lpstr>
      <vt:lpstr>Problem Statement</vt:lpstr>
      <vt:lpstr>Objectives: 1.Prepare and analyse the housing dataset. 2.Select relevant features for prediction. 3.Train and evaluate regression models. 4.Deploy the selected Random Forest 5.model using Flask. 6.Build an interactive location interface using Leaflet. </vt:lpstr>
      <vt:lpstr>Dataset Description</vt:lpstr>
      <vt:lpstr>Proposed Methodology</vt:lpstr>
      <vt:lpstr>Model Development</vt:lpstr>
      <vt:lpstr>Model Evaluation and Results</vt:lpstr>
      <vt:lpstr>System Architecture</vt:lpstr>
      <vt:lpstr>Application Interface</vt:lpstr>
      <vt:lpstr>Strengths and Limitations</vt:lpstr>
      <vt:lpstr>Conclusion: 1. A Random Forest regression model  was trained and evaluated for    housing-value prediction. 2. The model achieved a test-set R² score of 0.9782. 3. Flask and Leaflet were used to build an interactive prediction prototype. 4. The project demonstrates how a trained machine-learning model can be integrated into a geographic web application.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Ghute</dc:creator>
  <cp:lastModifiedBy>Krishna Ghute</cp:lastModifiedBy>
  <cp:revision>2</cp:revision>
  <dcterms:created xsi:type="dcterms:W3CDTF">2026-10-12T16:08:57Z</dcterms:created>
  <dcterms:modified xsi:type="dcterms:W3CDTF">2026-10-13T08:29:17Z</dcterms:modified>
</cp:coreProperties>
</file>